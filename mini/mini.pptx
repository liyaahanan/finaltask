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BM Plex Sans"/>
      <p:regular r:id="rId14"/>
      <p:bold r:id="rId15"/>
      <p:italic r:id="rId16"/>
      <p:boldItalic r:id="rId17"/>
    </p:embeddedFont>
    <p:embeddedFont>
      <p:font typeface="Sora SemiBold"/>
      <p:regular r:id="rId18"/>
      <p:bold r:id="rId19"/>
    </p:embeddedFont>
    <p:embeddedFont>
      <p:font typeface="IBM Plex Sans Medium"/>
      <p:regular r:id="rId20"/>
      <p:bold r:id="rId21"/>
      <p:italic r:id="rId22"/>
      <p:boldItalic r:id="rId23"/>
    </p:embeddedFont>
    <p:embeddedFont>
      <p:font typeface="Sora Light"/>
      <p:regular r:id="rId24"/>
      <p:bold r:id="rId25"/>
    </p:embeddedFont>
    <p:embeddedFont>
      <p:font typeface="Sora ExtraLight"/>
      <p:regular r:id="rId26"/>
      <p:bold r:id="rId27"/>
    </p:embeddedFont>
    <p:embeddedFont>
      <p:font typeface="Sora"/>
      <p:regular r:id="rId28"/>
      <p:bold r:id="rId29"/>
    </p:embeddedFont>
    <p:embeddedFont>
      <p:font typeface="Sora Medium"/>
      <p:regular r:id="rId30"/>
      <p:bold r:id="rId31"/>
    </p:embeddedFont>
    <p:embeddedFont>
      <p:font typeface="IBM Plex Sans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Medium-bold.fntdata"/><Relationship Id="rId30" Type="http://schemas.openxmlformats.org/officeDocument/2006/relationships/font" Target="fonts/SoraMedium-regular.fntdata"/><Relationship Id="rId33" Type="http://schemas.openxmlformats.org/officeDocument/2006/relationships/font" Target="fonts/IBMPlexSansSemiBold-bold.fntdata"/><Relationship Id="rId32" Type="http://schemas.openxmlformats.org/officeDocument/2006/relationships/font" Target="fonts/IBMPlexSansSemiBold-regular.fntdata"/><Relationship Id="rId35" Type="http://schemas.openxmlformats.org/officeDocument/2006/relationships/font" Target="fonts/IBMPlexSansSemiBold-boldItalic.fntdata"/><Relationship Id="rId34" Type="http://schemas.openxmlformats.org/officeDocument/2006/relationships/font" Target="fonts/IBMPlexSansSemiBold-italic.fntdata"/><Relationship Id="rId20" Type="http://schemas.openxmlformats.org/officeDocument/2006/relationships/font" Target="fonts/IBMPlexSansMedium-regular.fntdata"/><Relationship Id="rId22" Type="http://schemas.openxmlformats.org/officeDocument/2006/relationships/font" Target="fonts/IBMPlexSansMedium-italic.fntdata"/><Relationship Id="rId21" Type="http://schemas.openxmlformats.org/officeDocument/2006/relationships/font" Target="fonts/IBMPlexSansMedium-bold.fntdata"/><Relationship Id="rId24" Type="http://schemas.openxmlformats.org/officeDocument/2006/relationships/font" Target="fonts/SoraLight-regular.fntdata"/><Relationship Id="rId23" Type="http://schemas.openxmlformats.org/officeDocument/2006/relationships/font" Target="fonts/IBMPlexSansMedium-boldItalic.fntdata"/><Relationship Id="rId26" Type="http://schemas.openxmlformats.org/officeDocument/2006/relationships/font" Target="fonts/SoraExtraLight-regular.fntdata"/><Relationship Id="rId25" Type="http://schemas.openxmlformats.org/officeDocument/2006/relationships/font" Target="fonts/SoraLight-bold.fntdata"/><Relationship Id="rId28" Type="http://schemas.openxmlformats.org/officeDocument/2006/relationships/font" Target="fonts/Sora-regular.fntdata"/><Relationship Id="rId27" Type="http://schemas.openxmlformats.org/officeDocument/2006/relationships/font" Target="fonts/SoraExtraLight-bold.fntdata"/><Relationship Id="rId29" Type="http://schemas.openxmlformats.org/officeDocument/2006/relationships/font" Target="fonts/Sora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BMPlexSans-bold.fntdata"/><Relationship Id="rId14" Type="http://schemas.openxmlformats.org/officeDocument/2006/relationships/font" Target="fonts/IBMPlexSans-regular.fntdata"/><Relationship Id="rId17" Type="http://schemas.openxmlformats.org/officeDocument/2006/relationships/font" Target="fonts/IBMPlexSans-boldItalic.fntdata"/><Relationship Id="rId16" Type="http://schemas.openxmlformats.org/officeDocument/2006/relationships/font" Target="fonts/IBMPlexSans-italic.fntdata"/><Relationship Id="rId19" Type="http://schemas.openxmlformats.org/officeDocument/2006/relationships/font" Target="fonts/SoraSemiBold-bold.fntdata"/><Relationship Id="rId18" Type="http://schemas.openxmlformats.org/officeDocument/2006/relationships/font" Target="fonts/Sora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6" name="Google Shape;8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3" name="Google Shape;8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0" name="Google Shape;9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6" name="Google Shape;9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2" name="Google Shape;9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8" name="Google Shape;9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4" name="Google Shape;9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0" name="Google Shape;9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2" name="Google Shape;12;p2"/>
          <p:cNvGrpSpPr/>
          <p:nvPr/>
        </p:nvGrpSpPr>
        <p:grpSpPr>
          <a:xfrm>
            <a:off x="25" y="4625"/>
            <a:ext cx="2329792" cy="795413"/>
            <a:chOff x="21" y="-511"/>
            <a:chExt cx="2329792" cy="800617"/>
          </a:xfrm>
        </p:grpSpPr>
        <p:grpSp>
          <p:nvGrpSpPr>
            <p:cNvPr id="13" name="Google Shape;13;p2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" name="Google Shape;25;p2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6" name="Google Shape;26;p2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2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" name="Google Shape;28;p2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" name="Google Shape;29;p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0" name="Google Shape;30;p2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" name="Google Shape;31;p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4" name="Google Shape;34;p3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" name="Google Shape;35;p3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6" name="Google Shape;36;p3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7" name="Google Shape;37;p3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38" name="Google Shape;38;p3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39" name="Google Shape;39;p3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40" name="Google Shape;40;p3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41" name="Google Shape;41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2" name="Google Shape;42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3" name="Google Shape;43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6" name="Google Shape;46;p3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47" name="Google Shape;47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" name="Google Shape;48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" name="Google Shape;51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" name="Google Shape;5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" name="Google Shape;53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" name="Google Shape;54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" name="Google Shape;56;p3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57" name="Google Shape;57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" name="Google Shape;59;p3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0" name="Google Shape;60;p3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4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63" name="Google Shape;63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8" name="Google Shape;68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9" name="Google Shape;69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0" name="Google Shape;70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1" name="Google Shape;71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3" name="Google Shape;73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4" name="Google Shape;74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" name="Google Shape;76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7" name="Google Shape;77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8" name="Google Shape;78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2" name="Google Shape;82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3" name="Google Shape;83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4" name="Google Shape;84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8" name="Google Shape;88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9" name="Google Shape;89;p4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" name="Google Shape;91;p4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" name="Google Shape;92;p4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" name="Google Shape;93;p4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94" name="Google Shape;94;p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5" name="Google Shape;95;p4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96" name="Google Shape;96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5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99" name="Google Shape;99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00" name="Google Shape;100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1" name="Google Shape;10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4" name="Google Shape;10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5" name="Google Shape;10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6" name="Google Shape;106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7" name="Google Shape;107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0" name="Google Shape;110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1" name="Google Shape;111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2" name="Google Shape;112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24" name="Google Shape;124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25" name="Google Shape;125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6" name="Google Shape;126;p5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6666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7" name="Google Shape;127;p5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784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2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30" name="Google Shape;130;p5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31" name="Google Shape;131;p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6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34" name="Google Shape;134;p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35" name="Google Shape;135;p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6" name="Google Shape;136;p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0" name="Google Shape;140;p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1" name="Google Shape;141;p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2" name="Google Shape;142;p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6" name="Google Shape;146;p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7" name="Google Shape;147;p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8" name="Google Shape;148;p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9" name="Google Shape;149;p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0" name="Google Shape;150;p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1" name="Google Shape;151;p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2" name="Google Shape;152;p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53" name="Google Shape;153;p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4" name="Google Shape;154;p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5" name="Google Shape;155;p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6" name="Google Shape;156;p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7" name="Google Shape;157;p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8" name="Google Shape;158;p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59" name="Google Shape;159;p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60" name="Google Shape;160;p6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61" name="Google Shape;161;p6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62" name="Google Shape;162;p6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3" name="Google Shape;163;p6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4" name="Google Shape;164;p6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5" name="Google Shape;165;p6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66" name="Google Shape;166;p6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67" name="Google Shape;167;p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8" name="Google Shape;168;p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9" name="Google Shape;169;p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0" name="Google Shape;170;p6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71" name="Google Shape;171;p6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72" name="Google Shape;172;p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3" name="Google Shape;173;p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4" name="Google Shape;174;p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5" name="Google Shape;175;p6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76" name="Google Shape;176;p6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77" name="Google Shape;177;p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8" name="Google Shape;178;p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9" name="Google Shape;179;p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0" name="Google Shape;180;p6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81" name="Google Shape;181;p6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82" name="Google Shape;182;p6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83" name="Google Shape;183;p6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84" name="Google Shape;184;p6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185" name="Google Shape;185;p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6" name="Google Shape;186;p6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87" name="Google Shape;187;p6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188" name="Google Shape;188;p6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91" name="Google Shape;191;p7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92" name="Google Shape;192;p7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93" name="Google Shape;193;p7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94" name="Google Shape;194;p7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95" name="Google Shape;195;p7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7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7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7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9" name="Google Shape;199;p7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0" name="Google Shape;200;p7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1" name="Google Shape;201;p7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02" name="Google Shape;202;p7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03" name="Google Shape;203;p7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04" name="Google Shape;204;p7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09" name="Google Shape;209;p8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8627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3921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3921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Journal</a:t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 Stories. Real Careers. Real Inspiration.</a:t>
            </a:r>
            <a:endParaRPr b="1" i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889" name="Google Shape;889;p51"/>
          <p:cNvSpPr txBox="1"/>
          <p:nvPr/>
        </p:nvSpPr>
        <p:spPr>
          <a:xfrm>
            <a:off x="377550" y="3899400"/>
            <a:ext cx="356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Liya Hanan Thazhathethil Noufal </a:t>
            </a:r>
            <a:endParaRPr b="0" i="0" sz="12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Mini Project Presentation</a:t>
            </a:r>
            <a:endParaRPr b="0" i="0" sz="12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90" name="Google Shape;890;p51"/>
          <p:cNvSpPr txBox="1"/>
          <p:nvPr/>
        </p:nvSpPr>
        <p:spPr>
          <a:xfrm>
            <a:off x="297100" y="2457250"/>
            <a:ext cx="46608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Career Journal</a:t>
            </a:r>
            <a:r>
              <a:rPr lang="en" sz="1100"/>
              <a:t> is a storytelling platform where professionals share their </a:t>
            </a:r>
            <a:r>
              <a:rPr b="1" lang="en" sz="1100"/>
              <a:t>real career experiences, challenges, lessons, and achievements</a:t>
            </a:r>
            <a:r>
              <a:rPr lang="en" sz="1100"/>
              <a:t> to inspire others on their own career paths.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Learn from real people not just resumes.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type="title"/>
          </p:nvPr>
        </p:nvSpPr>
        <p:spPr>
          <a:xfrm>
            <a:off x="96025" y="291000"/>
            <a:ext cx="6507000" cy="9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896" name="Google Shape;896;p52"/>
          <p:cNvSpPr txBox="1"/>
          <p:nvPr>
            <p:ph idx="1" type="subTitle"/>
          </p:nvPr>
        </p:nvSpPr>
        <p:spPr>
          <a:xfrm>
            <a:off x="228600" y="1380275"/>
            <a:ext cx="3759600" cy="36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 people have meaningful career experiences achievements, challenges, lessons, and personal development but often: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don’t document or share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these experiences.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lack a platform to preserve personal career stories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Aspiring professionals have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access to real career narratives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inspiration or guidance.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creates a gap in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collective learning and career insight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across diverse professions.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7" name="Google Shape;897;p52"/>
          <p:cNvCxnSpPr/>
          <p:nvPr/>
        </p:nvCxnSpPr>
        <p:spPr>
          <a:xfrm>
            <a:off x="1316000" y="-650450"/>
            <a:ext cx="726000" cy="7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3"/>
          <p:cNvSpPr txBox="1"/>
          <p:nvPr>
            <p:ph type="title"/>
          </p:nvPr>
        </p:nvSpPr>
        <p:spPr>
          <a:xfrm>
            <a:off x="-58725" y="615825"/>
            <a:ext cx="6507000" cy="18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903" name="Google Shape;903;p53"/>
          <p:cNvSpPr txBox="1"/>
          <p:nvPr>
            <p:ph idx="1" type="subTitle"/>
          </p:nvPr>
        </p:nvSpPr>
        <p:spPr>
          <a:xfrm>
            <a:off x="115025" y="2172525"/>
            <a:ext cx="3759600" cy="258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build an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accessible online platform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where professionals and creators can: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 their real career journeys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Inspire and educate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others making career decisions.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repository of authentic career experiences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from around the world.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platform celebrates diverse paths and empowers others through storytelling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4"/>
          <p:cNvSpPr txBox="1"/>
          <p:nvPr>
            <p:ph type="title"/>
          </p:nvPr>
        </p:nvSpPr>
        <p:spPr>
          <a:xfrm>
            <a:off x="115025" y="55700"/>
            <a:ext cx="65070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Goal</a:t>
            </a:r>
            <a:endParaRPr/>
          </a:p>
        </p:txBody>
      </p:sp>
      <p:sp>
        <p:nvSpPr>
          <p:cNvPr id="909" name="Google Shape;909;p54"/>
          <p:cNvSpPr txBox="1"/>
          <p:nvPr/>
        </p:nvSpPr>
        <p:spPr>
          <a:xfrm>
            <a:off x="371350" y="748925"/>
            <a:ext cx="5682000" cy="3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Create a </a:t>
            </a:r>
            <a:r>
              <a:rPr b="1" lang="en" sz="1100"/>
              <a:t>user-friendly web app</a:t>
            </a:r>
            <a:r>
              <a:rPr lang="en" sz="1100"/>
              <a:t> that allows users to: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Read featured career journeys</a:t>
            </a:r>
            <a:r>
              <a:rPr lang="en" sz="1100"/>
              <a:t> from professionals.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Submit their own career stories</a:t>
            </a:r>
            <a:r>
              <a:rPr lang="en" sz="1100"/>
              <a:t>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Explore paths from a variety of industries and roles</a:t>
            </a:r>
            <a:r>
              <a:rPr lang="en" sz="1100"/>
              <a:t>.</a:t>
            </a:r>
            <a:br>
              <a:rPr lang="en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Long-term goals: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Grow a library of inspirational career narratives.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Foster a community of storytellers and learners.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Encourage reflection on personal career growth.</a:t>
            </a:r>
            <a:br>
              <a:rPr lang="en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All content should be authentic, accessible, and motivational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5"/>
          <p:cNvSpPr txBox="1"/>
          <p:nvPr>
            <p:ph type="title"/>
          </p:nvPr>
        </p:nvSpPr>
        <p:spPr>
          <a:xfrm>
            <a:off x="96025" y="228600"/>
            <a:ext cx="65070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 Result / Output</a:t>
            </a:r>
            <a:endParaRPr/>
          </a:p>
        </p:txBody>
      </p:sp>
      <p:sp>
        <p:nvSpPr>
          <p:cNvPr id="915" name="Google Shape;915;p55"/>
          <p:cNvSpPr txBox="1"/>
          <p:nvPr>
            <p:ph idx="1" type="subTitle"/>
          </p:nvPr>
        </p:nvSpPr>
        <p:spPr>
          <a:xfrm>
            <a:off x="96025" y="1022325"/>
            <a:ext cx="4899300" cy="32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platform delivers: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homepage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featured career journeys.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🔹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Browseable categories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stories.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🔹 Functionality to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submit and publish your own journey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🔹 User account features: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 up / Login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🔹 A growing library of curated real-world career stories (e.g., artist, writer, photographer, etc.).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output is 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dynamic, user-generated community hub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career inspiration and shared learning.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6"/>
          <p:cNvSpPr txBox="1"/>
          <p:nvPr>
            <p:ph type="title"/>
          </p:nvPr>
        </p:nvSpPr>
        <p:spPr>
          <a:xfrm>
            <a:off x="96025" y="166400"/>
            <a:ext cx="65070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 User Audience</a:t>
            </a:r>
            <a:endParaRPr/>
          </a:p>
        </p:txBody>
      </p:sp>
      <p:sp>
        <p:nvSpPr>
          <p:cNvPr id="921" name="Google Shape;921;p56"/>
          <p:cNvSpPr txBox="1"/>
          <p:nvPr/>
        </p:nvSpPr>
        <p:spPr>
          <a:xfrm>
            <a:off x="0" y="1206950"/>
            <a:ext cx="4029300" cy="42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This platform is valuable for: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🎓 Students &amp; Recent Graduates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Seeking real career insights, motivation, or direction.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👩‍💼 Early Career Professionals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Looking for relatable journeys to guide decisions and inspire confidence.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🧑‍💼 Mid-Career &amp; Experienced Professionals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Who want to </a:t>
            </a:r>
            <a:r>
              <a:rPr b="1" lang="en" sz="1100"/>
              <a:t>reflect, share, and mentor</a:t>
            </a:r>
            <a:r>
              <a:rPr lang="en" sz="1100"/>
              <a:t> through storytelling.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🌐 Career Enthusiasts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Anyone curious about diverse career paths and life stories.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It serves both </a:t>
            </a:r>
            <a:r>
              <a:rPr b="1" lang="en" sz="1100"/>
              <a:t>story contributors</a:t>
            </a:r>
            <a:r>
              <a:rPr lang="en" sz="1100"/>
              <a:t> and </a:t>
            </a:r>
            <a:r>
              <a:rPr b="1" lang="en" sz="1100"/>
              <a:t>audience learners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57"/>
          <p:cNvSpPr txBox="1"/>
          <p:nvPr>
            <p:ph type="title"/>
          </p:nvPr>
        </p:nvSpPr>
        <p:spPr>
          <a:xfrm>
            <a:off x="263150" y="162950"/>
            <a:ext cx="6507000" cy="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Impact on Society</a:t>
            </a:r>
            <a:endParaRPr/>
          </a:p>
        </p:txBody>
      </p:sp>
      <p:sp>
        <p:nvSpPr>
          <p:cNvPr id="927" name="Google Shape;927;p57"/>
          <p:cNvSpPr txBox="1"/>
          <p:nvPr/>
        </p:nvSpPr>
        <p:spPr>
          <a:xfrm>
            <a:off x="340425" y="1268850"/>
            <a:ext cx="25440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Career Journal has the potential to: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✔ </a:t>
            </a:r>
            <a:r>
              <a:rPr b="1" lang="en" sz="1100"/>
              <a:t>Democratize career knowledge</a:t>
            </a:r>
            <a:r>
              <a:rPr lang="en" sz="1100"/>
              <a:t> — real experiences, not generic advice.</a:t>
            </a:r>
            <a:br>
              <a:rPr lang="en" sz="1100"/>
            </a:br>
            <a:r>
              <a:rPr lang="en" sz="1100"/>
              <a:t> ✔ </a:t>
            </a:r>
            <a:r>
              <a:rPr b="1" lang="en" sz="1100"/>
              <a:t>Encourage personal reflection and growth</a:t>
            </a:r>
            <a:r>
              <a:rPr lang="en" sz="1100"/>
              <a:t> through sharing.</a:t>
            </a:r>
            <a:br>
              <a:rPr lang="en" sz="1100"/>
            </a:br>
            <a:r>
              <a:rPr lang="en" sz="1100"/>
              <a:t> ✔ </a:t>
            </a:r>
            <a:r>
              <a:rPr b="1" lang="en" sz="1100"/>
              <a:t>Inspire future generations</a:t>
            </a:r>
            <a:r>
              <a:rPr lang="en" sz="1100"/>
              <a:t> by exposing them to diverse stories.</a:t>
            </a:r>
            <a:br>
              <a:rPr lang="en" sz="1100"/>
            </a:br>
            <a:r>
              <a:rPr lang="en" sz="1100"/>
              <a:t> ✔ </a:t>
            </a:r>
            <a:r>
              <a:rPr b="1" lang="en" sz="1100"/>
              <a:t>Build community and empathy</a:t>
            </a:r>
            <a:r>
              <a:rPr lang="en" sz="1100"/>
              <a:t> across sectors and cultures.</a:t>
            </a:r>
            <a:br>
              <a:rPr lang="en" sz="1100"/>
            </a:br>
            <a:r>
              <a:rPr lang="en" sz="1100"/>
              <a:t> ✔ Reduce career anxiety — seeing successful paths from real people can boost confidence.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Overall, it supports </a:t>
            </a:r>
            <a:r>
              <a:rPr b="1" lang="en" sz="1100"/>
              <a:t>career development as a shared human experience</a:t>
            </a:r>
            <a:r>
              <a:rPr lang="en" sz="1100"/>
              <a:t>, beyond formal recruitment tools.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58"/>
          <p:cNvSpPr txBox="1"/>
          <p:nvPr>
            <p:ph type="title"/>
          </p:nvPr>
        </p:nvSpPr>
        <p:spPr>
          <a:xfrm>
            <a:off x="96025" y="136150"/>
            <a:ext cx="65070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 Conclusion</a:t>
            </a:r>
            <a:endParaRPr/>
          </a:p>
        </p:txBody>
      </p:sp>
      <p:sp>
        <p:nvSpPr>
          <p:cNvPr id="933" name="Google Shape;933;p58"/>
          <p:cNvSpPr txBox="1"/>
          <p:nvPr/>
        </p:nvSpPr>
        <p:spPr>
          <a:xfrm>
            <a:off x="309475" y="1237900"/>
            <a:ext cx="36519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The Career Journal platform is more than a website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it’s a </a:t>
            </a:r>
            <a:r>
              <a:rPr b="1" lang="en" sz="1100"/>
              <a:t>story-sharing ecosystem</a:t>
            </a:r>
            <a:r>
              <a:rPr lang="en" sz="1100"/>
              <a:t> that: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Solves the problem of </a:t>
            </a:r>
            <a:r>
              <a:rPr b="1" lang="en" sz="1100"/>
              <a:t>unshared career knowledge</a:t>
            </a:r>
            <a:r>
              <a:rPr lang="en" sz="1100"/>
              <a:t>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Gives users a space to </a:t>
            </a:r>
            <a:r>
              <a:rPr b="1" lang="en" sz="1100"/>
              <a:t>express, inspire, and connect</a:t>
            </a:r>
            <a:r>
              <a:rPr lang="en" sz="1100"/>
              <a:t>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Creates </a:t>
            </a:r>
            <a:r>
              <a:rPr b="1" lang="en" sz="1100"/>
              <a:t>social value</a:t>
            </a:r>
            <a:r>
              <a:rPr lang="en" sz="1100"/>
              <a:t> by making career growth visible and relatable.</a:t>
            </a:r>
            <a:br>
              <a:rPr lang="en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By harnessing </a:t>
            </a:r>
            <a:r>
              <a:rPr i="1" lang="en" sz="1100"/>
              <a:t>authentic narratives</a:t>
            </a:r>
            <a:r>
              <a:rPr lang="en" sz="1100"/>
              <a:t> from professionals around the world, this project builds a </a:t>
            </a:r>
            <a:r>
              <a:rPr b="1" lang="en" sz="1100"/>
              <a:t>community of shared learning and career empowerment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